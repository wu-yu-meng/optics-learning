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2" r:id="rId9"/>
    <p:sldId id="263" r:id="rId10"/>
  </p:sldIdLst>
  <p:sldSz cx="12192000" cy="6858000"/>
  <p:notesSz cx="6858000" cy="9144000"/>
  <p:defaultTextStyle>
    <a:defPPr>
      <a:defRPr lang="zh-CN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396" y="-126"/>
      </p:cViewPr>
      <p:guideLst>
        <p:guide pos="3840"/>
        <p:guide orient="horz" pos="2156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4621928" name="頁首預留位置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988659324" name="日期預留位置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</a:fld>
            <a:endParaRPr lang="zh-CN"/>
          </a:p>
        </p:txBody>
      </p:sp>
      <p:sp>
        <p:nvSpPr>
          <p:cNvPr id="131669479" name="投影片影像預留位置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zh-CN"/>
          </a:p>
        </p:txBody>
      </p:sp>
      <p:sp>
        <p:nvSpPr>
          <p:cNvPr id="133940061" name="備忘稿預留位置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二级</a:t>
            </a:r>
            <a:endParaRPr lang="zh-CN"/>
          </a:p>
          <a:p>
            <a:pPr lvl="2">
              <a:defRPr/>
            </a:pPr>
            <a:r>
              <a:rPr lang="zh-CN"/>
              <a:t>三级</a:t>
            </a:r>
            <a:endParaRPr lang="zh-CN"/>
          </a:p>
          <a:p>
            <a:pPr lvl="3">
              <a:defRPr/>
            </a:pPr>
            <a:r>
              <a:rPr lang="zh-CN"/>
              <a:t>四级</a:t>
            </a:r>
            <a:endParaRPr lang="zh-CN"/>
          </a:p>
          <a:p>
            <a:pPr lvl="4">
              <a:defRPr/>
            </a:pPr>
            <a:r>
              <a:rPr lang="zh-CN"/>
              <a:t>五级</a:t>
            </a:r>
            <a:endParaRPr lang="zh-CN"/>
          </a:p>
        </p:txBody>
      </p:sp>
      <p:sp>
        <p:nvSpPr>
          <p:cNvPr id="1080669377" name="頁尾預留位置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1103087828" name="投影片編號預留位置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zh-CN"/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9390416" name="投影片影像預留位置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12973922" name="備忘稿預留位置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82118292" name="投影片編號預留位置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zh-CN"/>
            </a:fld>
            <a:endParaRPr 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642F09-B88D-E605-A165-4599EB7BEE43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1B94D0-7CBB-DDAB-6FF1-E43CC9E3530A}" type="slidenum">
              <a:rPr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userDrawn="1">
  <p:cSld name="标题幻灯片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0765561" name="标题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2099184743" name="副标题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zh-CN"/>
              <a:t>单击此处编辑母版副标题样式</a:t>
            </a:r>
            <a:endParaRPr lang="zh-CN"/>
          </a:p>
        </p:txBody>
      </p:sp>
      <p:sp>
        <p:nvSpPr>
          <p:cNvPr id="648774022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</a:fld>
            <a:endParaRPr lang="zh-CN"/>
          </a:p>
        </p:txBody>
      </p:sp>
      <p:sp>
        <p:nvSpPr>
          <p:cNvPr id="1815373382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882444621" name="灯片编号占位符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PhAnim="0" userDrawn="1">
  <p:cSld name="标题和内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1035921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1388610265" name="内容占位符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二级</a:t>
            </a:r>
            <a:endParaRPr lang="zh-CN"/>
          </a:p>
          <a:p>
            <a:pPr lvl="2">
              <a:defRPr/>
            </a:pPr>
            <a:r>
              <a:rPr lang="zh-CN"/>
              <a:t>三级</a:t>
            </a:r>
            <a:endParaRPr lang="zh-CN"/>
          </a:p>
          <a:p>
            <a:pPr lvl="3">
              <a:defRPr/>
            </a:pPr>
            <a:r>
              <a:rPr lang="zh-CN"/>
              <a:t>四级</a:t>
            </a:r>
            <a:endParaRPr lang="zh-CN"/>
          </a:p>
          <a:p>
            <a:pPr lvl="4">
              <a:defRPr/>
            </a:pPr>
            <a:r>
              <a:rPr lang="zh-CN"/>
              <a:t>五级</a:t>
            </a:r>
            <a:endParaRPr lang="zh-CN"/>
          </a:p>
        </p:txBody>
      </p:sp>
      <p:sp>
        <p:nvSpPr>
          <p:cNvPr id="1149246803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</a:fld>
            <a:endParaRPr lang="zh-CN"/>
          </a:p>
        </p:txBody>
      </p:sp>
      <p:sp>
        <p:nvSpPr>
          <p:cNvPr id="467627411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344142325" name="灯片编号占位符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PhAnim="0" userDrawn="1">
  <p:cSld name="节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4771563" name="标题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181209226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274314693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</a:fld>
            <a:endParaRPr lang="zh-CN"/>
          </a:p>
        </p:txBody>
      </p:sp>
      <p:sp>
        <p:nvSpPr>
          <p:cNvPr id="1223074936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67049893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PhAnim="0" userDrawn="1">
  <p:cSld name="两栏内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76561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226077896" name="内容占位符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二级</a:t>
            </a:r>
            <a:endParaRPr lang="zh-CN"/>
          </a:p>
          <a:p>
            <a:pPr lvl="2">
              <a:defRPr/>
            </a:pPr>
            <a:r>
              <a:rPr lang="zh-CN"/>
              <a:t>三级</a:t>
            </a:r>
            <a:endParaRPr lang="zh-CN"/>
          </a:p>
          <a:p>
            <a:pPr lvl="3">
              <a:defRPr/>
            </a:pPr>
            <a:r>
              <a:rPr lang="zh-CN"/>
              <a:t>四级</a:t>
            </a:r>
            <a:endParaRPr lang="zh-CN"/>
          </a:p>
          <a:p>
            <a:pPr lvl="4">
              <a:defRPr/>
            </a:pPr>
            <a:r>
              <a:rPr lang="zh-CN"/>
              <a:t>五级</a:t>
            </a:r>
            <a:endParaRPr lang="zh-CN"/>
          </a:p>
        </p:txBody>
      </p:sp>
      <p:sp>
        <p:nvSpPr>
          <p:cNvPr id="2019508448" name="内容占位符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二级</a:t>
            </a:r>
            <a:endParaRPr lang="zh-CN"/>
          </a:p>
          <a:p>
            <a:pPr lvl="2">
              <a:defRPr/>
            </a:pPr>
            <a:r>
              <a:rPr lang="zh-CN"/>
              <a:t>三级</a:t>
            </a:r>
            <a:endParaRPr lang="zh-CN"/>
          </a:p>
          <a:p>
            <a:pPr lvl="3">
              <a:defRPr/>
            </a:pPr>
            <a:r>
              <a:rPr lang="zh-CN"/>
              <a:t>四级</a:t>
            </a:r>
            <a:endParaRPr lang="zh-CN"/>
          </a:p>
          <a:p>
            <a:pPr lvl="4">
              <a:defRPr/>
            </a:pPr>
            <a:r>
              <a:rPr lang="zh-CN"/>
              <a:t>五级</a:t>
            </a:r>
            <a:endParaRPr lang="zh-CN"/>
          </a:p>
        </p:txBody>
      </p:sp>
      <p:sp>
        <p:nvSpPr>
          <p:cNvPr id="795932076" name="日期占位符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</a:fld>
            <a:endParaRPr lang="zh-CN"/>
          </a:p>
        </p:txBody>
      </p:sp>
      <p:sp>
        <p:nvSpPr>
          <p:cNvPr id="1635488311" name="页脚占位符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805287658" name="灯片编号占位符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PhAnim="0" userDrawn="1">
  <p:cSld name="比较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717683" name="标题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2139972836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68736003" name="内容占位符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二级</a:t>
            </a:r>
            <a:endParaRPr lang="zh-CN"/>
          </a:p>
          <a:p>
            <a:pPr lvl="2">
              <a:defRPr/>
            </a:pPr>
            <a:r>
              <a:rPr lang="zh-CN"/>
              <a:t>三级</a:t>
            </a:r>
            <a:endParaRPr lang="zh-CN"/>
          </a:p>
          <a:p>
            <a:pPr lvl="3">
              <a:defRPr/>
            </a:pPr>
            <a:r>
              <a:rPr lang="zh-CN"/>
              <a:t>四级</a:t>
            </a:r>
            <a:endParaRPr lang="zh-CN"/>
          </a:p>
          <a:p>
            <a:pPr lvl="4">
              <a:defRPr/>
            </a:pPr>
            <a:r>
              <a:rPr lang="zh-CN"/>
              <a:t>五级</a:t>
            </a:r>
            <a:endParaRPr lang="zh-CN"/>
          </a:p>
        </p:txBody>
      </p:sp>
      <p:sp>
        <p:nvSpPr>
          <p:cNvPr id="1835048966" name="文本占位符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1233200212" name="内容占位符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二级</a:t>
            </a:r>
            <a:endParaRPr lang="zh-CN"/>
          </a:p>
          <a:p>
            <a:pPr lvl="2">
              <a:defRPr/>
            </a:pPr>
            <a:r>
              <a:rPr lang="zh-CN"/>
              <a:t>三级</a:t>
            </a:r>
            <a:endParaRPr lang="zh-CN"/>
          </a:p>
          <a:p>
            <a:pPr lvl="3">
              <a:defRPr/>
            </a:pPr>
            <a:r>
              <a:rPr lang="zh-CN"/>
              <a:t>四级</a:t>
            </a:r>
            <a:endParaRPr lang="zh-CN"/>
          </a:p>
          <a:p>
            <a:pPr lvl="4">
              <a:defRPr/>
            </a:pPr>
            <a:r>
              <a:rPr lang="zh-CN"/>
              <a:t>五级</a:t>
            </a:r>
            <a:endParaRPr lang="zh-CN"/>
          </a:p>
        </p:txBody>
      </p:sp>
      <p:sp>
        <p:nvSpPr>
          <p:cNvPr id="380893917" name="日期占位符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</a:fld>
            <a:endParaRPr lang="zh-CN"/>
          </a:p>
        </p:txBody>
      </p:sp>
      <p:sp>
        <p:nvSpPr>
          <p:cNvPr id="1973784683" name="页脚占位符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950114692" name="灯片编号占位符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PhAnim="0" userDrawn="1">
  <p:cSld name="仅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177991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1202514381" name="日期占位符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</a:fld>
            <a:endParaRPr lang="zh-CN"/>
          </a:p>
        </p:txBody>
      </p:sp>
      <p:sp>
        <p:nvSpPr>
          <p:cNvPr id="765614032" name="页脚占位符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394712511" name="灯片编号占位符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PhAnim="0" userDrawn="1">
  <p:cSld name="空白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5398461" name="日期占位符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</a:fld>
            <a:endParaRPr lang="zh-CN"/>
          </a:p>
        </p:txBody>
      </p:sp>
      <p:sp>
        <p:nvSpPr>
          <p:cNvPr id="211683283" name="页脚占位符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088286494" name="灯片编号占位符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PhAnim="0" userDrawn="1">
  <p:cSld name="内容与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785719" name="标题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2136424946" name="内容占位符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二级</a:t>
            </a:r>
            <a:endParaRPr lang="zh-CN"/>
          </a:p>
          <a:p>
            <a:pPr lvl="2">
              <a:defRPr/>
            </a:pPr>
            <a:r>
              <a:rPr lang="zh-CN"/>
              <a:t>三级</a:t>
            </a:r>
            <a:endParaRPr lang="zh-CN"/>
          </a:p>
          <a:p>
            <a:pPr lvl="3">
              <a:defRPr/>
            </a:pPr>
            <a:r>
              <a:rPr lang="zh-CN"/>
              <a:t>四级</a:t>
            </a:r>
            <a:endParaRPr lang="zh-CN"/>
          </a:p>
          <a:p>
            <a:pPr lvl="4">
              <a:defRPr/>
            </a:pPr>
            <a:r>
              <a:rPr lang="zh-CN"/>
              <a:t>五级</a:t>
            </a:r>
            <a:endParaRPr lang="zh-CN"/>
          </a:p>
        </p:txBody>
      </p:sp>
      <p:sp>
        <p:nvSpPr>
          <p:cNvPr id="1818675885" name="文本占位符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296353765" name="日期占位符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</a:fld>
            <a:endParaRPr lang="zh-CN"/>
          </a:p>
        </p:txBody>
      </p:sp>
      <p:sp>
        <p:nvSpPr>
          <p:cNvPr id="960192238" name="页脚占位符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746533822" name="灯片编号占位符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PhAnim="0" userDrawn="1">
  <p:cSld name="图片与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195226" name="标题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1320095808" name="图片占位符 2"/>
          <p:cNvSpPr>
            <a:spLocks noGrp="1" noChangeAspect="1"/>
          </p:cNvSpPr>
          <p:nvPr>
            <p:ph type="pic" idx="1" hasCustomPrompt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zh-CN"/>
              <a:t>點擊圖示以新增圖片</a:t>
            </a:r>
            <a:endParaRPr lang="zh-CN"/>
          </a:p>
        </p:txBody>
      </p:sp>
      <p:sp>
        <p:nvSpPr>
          <p:cNvPr id="2037621913" name="文本占位符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1915304009" name="日期占位符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</a:fld>
            <a:endParaRPr lang="zh-CN"/>
          </a:p>
        </p:txBody>
      </p:sp>
      <p:sp>
        <p:nvSpPr>
          <p:cNvPr id="1839757619" name="页脚占位符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886326448" name="灯片编号占位符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PhAnim="0" userDrawn="1">
  <p:cSld name="标题和竖排文字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4177044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1534285172" name="竖排文字占位符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二级</a:t>
            </a:r>
            <a:endParaRPr lang="zh-CN"/>
          </a:p>
          <a:p>
            <a:pPr lvl="2">
              <a:defRPr/>
            </a:pPr>
            <a:r>
              <a:rPr lang="zh-CN"/>
              <a:t>三级</a:t>
            </a:r>
            <a:endParaRPr lang="zh-CN"/>
          </a:p>
          <a:p>
            <a:pPr lvl="3">
              <a:defRPr/>
            </a:pPr>
            <a:r>
              <a:rPr lang="zh-CN"/>
              <a:t>四级</a:t>
            </a:r>
            <a:endParaRPr lang="zh-CN"/>
          </a:p>
          <a:p>
            <a:pPr lvl="4">
              <a:defRPr/>
            </a:pPr>
            <a:r>
              <a:rPr lang="zh-CN"/>
              <a:t>五级</a:t>
            </a:r>
            <a:endParaRPr lang="zh-CN"/>
          </a:p>
        </p:txBody>
      </p:sp>
      <p:sp>
        <p:nvSpPr>
          <p:cNvPr id="1321620861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</a:fld>
            <a:endParaRPr lang="zh-CN"/>
          </a:p>
        </p:txBody>
      </p:sp>
      <p:sp>
        <p:nvSpPr>
          <p:cNvPr id="732678065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910432268" name="灯片编号占位符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PhAnim="0" userDrawn="1">
  <p:cSld name="竖排标题与文本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8632323" name="竖排标题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1732255596" name="竖排文字占位符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二级</a:t>
            </a:r>
            <a:endParaRPr lang="zh-CN"/>
          </a:p>
          <a:p>
            <a:pPr lvl="2">
              <a:defRPr/>
            </a:pPr>
            <a:r>
              <a:rPr lang="zh-CN"/>
              <a:t>三级</a:t>
            </a:r>
            <a:endParaRPr lang="zh-CN"/>
          </a:p>
          <a:p>
            <a:pPr lvl="3">
              <a:defRPr/>
            </a:pPr>
            <a:r>
              <a:rPr lang="zh-CN"/>
              <a:t>四级</a:t>
            </a:r>
            <a:endParaRPr lang="zh-CN"/>
          </a:p>
          <a:p>
            <a:pPr lvl="4">
              <a:defRPr/>
            </a:pPr>
            <a:r>
              <a:rPr lang="zh-CN"/>
              <a:t>五级</a:t>
            </a:r>
            <a:endParaRPr lang="zh-CN"/>
          </a:p>
        </p:txBody>
      </p:sp>
      <p:sp>
        <p:nvSpPr>
          <p:cNvPr id="1459685767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</a:fld>
            <a:endParaRPr lang="zh-CN"/>
          </a:p>
        </p:txBody>
      </p:sp>
      <p:sp>
        <p:nvSpPr>
          <p:cNvPr id="1656568872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223746972" name="灯片编号占位符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0519827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17318410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二级</a:t>
            </a:r>
            <a:endParaRPr lang="zh-CN"/>
          </a:p>
          <a:p>
            <a:pPr lvl="2">
              <a:defRPr/>
            </a:pPr>
            <a:r>
              <a:rPr lang="zh-CN"/>
              <a:t>三级</a:t>
            </a:r>
            <a:endParaRPr lang="zh-CN"/>
          </a:p>
          <a:p>
            <a:pPr lvl="3">
              <a:defRPr/>
            </a:pPr>
            <a:r>
              <a:rPr lang="zh-CN"/>
              <a:t>四级</a:t>
            </a:r>
            <a:endParaRPr lang="zh-CN"/>
          </a:p>
          <a:p>
            <a:pPr lvl="4">
              <a:defRPr/>
            </a:pPr>
            <a:r>
              <a:rPr lang="zh-CN"/>
              <a:t>五级</a:t>
            </a:r>
            <a:endParaRPr lang="zh-CN"/>
          </a:p>
        </p:txBody>
      </p:sp>
      <p:sp>
        <p:nvSpPr>
          <p:cNvPr id="34824838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fld id="{BCC18F51-09EC-435C-A3BA-64A766E099C0}" type="datetimeFigureOut">
              <a:rPr lang="en-US"/>
            </a:fld>
            <a:endParaRPr lang="zh-CN"/>
          </a:p>
        </p:txBody>
      </p:sp>
      <p:sp>
        <p:nvSpPr>
          <p:cNvPr id="791490796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zh-CN"/>
          </a:p>
        </p:txBody>
      </p:sp>
      <p:sp>
        <p:nvSpPr>
          <p:cNvPr id="1065493017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fld id="{08395586-F03A-48D1-94DF-16B239DF4FB5}" type="slidenum">
              <a:rPr lang="zh-CN"/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 panose="020B0604020202020204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9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4424228" name="标题 1"/>
          <p:cNvSpPr>
            <a:spLocks noGrp="1"/>
          </p:cNvSpPr>
          <p:nvPr>
            <p:ph type="ctrTitle"/>
          </p:nvPr>
        </p:nvSpPr>
        <p:spPr bwMode="auto">
          <a:xfrm>
            <a:off x="1523999" y="1122362"/>
            <a:ext cx="9144000" cy="852090"/>
          </a:xfrm>
        </p:spPr>
        <p:txBody>
          <a:bodyPr/>
          <a:lstStyle/>
          <a:p>
            <a:pPr>
              <a:defRPr/>
            </a:pPr>
            <a:r>
              <a:rPr lang="zh-CN" sz="4800" b="0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基于反馈的锁模参数自调整系统</a:t>
            </a:r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5496519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为采集数据添加分析系统</a:t>
            </a:r>
          </a:p>
        </p:txBody>
      </p:sp>
      <p:pic>
        <p:nvPicPr>
          <p:cNvPr id="845047322" name="图片 845047321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1031240" y="1431925"/>
            <a:ext cx="9660255" cy="2249170"/>
          </a:xfrm>
          <a:prstGeom prst="rect">
            <a:avLst/>
          </a:prstGeom>
        </p:spPr>
      </p:pic>
      <p:pic>
        <p:nvPicPr>
          <p:cNvPr id="402250906" name="图片 40225090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 bwMode="auto">
          <a:xfrm>
            <a:off x="1031240" y="3959860"/>
            <a:ext cx="10003790" cy="23298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5167878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 altLang="en-US">
                <a:ea typeface="宋体" charset="0"/>
                <a:sym typeface="+mn-ea"/>
              </a:rPr>
              <a:t>方案选型</a:t>
            </a:r>
            <a:endParaRPr lang="zh-CN" altLang="en-US">
              <a:ea typeface="宋体" charset="0"/>
              <a:sym typeface="+mn-ea"/>
            </a:endParaRPr>
          </a:p>
        </p:txBody>
      </p:sp>
      <p:sp>
        <p:nvSpPr>
          <p:cNvPr id="1966346122" name="内容占位符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342900" indent="-342900">
              <a:buFont typeface="Arial" panose="020B0604020202020204"/>
              <a:buAutoNum type="arabicPeriod"/>
              <a:defRPr/>
            </a:pPr>
            <a:r>
              <a:rPr sz="1400">
                <a:sym typeface="+mn-ea"/>
              </a:rPr>
              <a:t>可控器件：电动PC</a:t>
            </a:r>
            <a:endParaRPr sz="1400">
              <a:sym typeface="+mn-ea"/>
            </a:endParaRPr>
          </a:p>
          <a:p>
            <a:pPr lvl="1">
              <a:defRPr/>
            </a:pPr>
            <a:r>
              <a:rPr sz="1200">
                <a:sym typeface="+mn-ea"/>
              </a:rPr>
              <a:t>固态光纤激光器均可使用电动PC作为偏振调节器件（模块可复用）</a:t>
            </a:r>
            <a:endParaRPr sz="1200">
              <a:sym typeface="+mn-ea"/>
            </a:endParaRPr>
          </a:p>
          <a:p>
            <a:pPr marL="628650" lvl="3" indent="-171450">
              <a:defRPr/>
            </a:pPr>
            <a:r>
              <a:rPr lang="en-US" sz="1200">
                <a:sym typeface="+mn-ea"/>
              </a:rPr>
              <a:t> </a:t>
            </a:r>
            <a:r>
              <a:rPr sz="1200">
                <a:sym typeface="+mn-ea"/>
              </a:rPr>
              <a:t>电动PC可数字化控制，调节分度</a:t>
            </a:r>
            <a:r>
              <a:rPr lang="zh-CN" sz="1200">
                <a:ea typeface="宋体" charset="0"/>
                <a:sym typeface="+mn-ea"/>
              </a:rPr>
              <a:t>值细</a:t>
            </a:r>
            <a:r>
              <a:rPr sz="1200">
                <a:sym typeface="+mn-ea"/>
              </a:rPr>
              <a:t>，调节范围广（多因素影响，单变量控制）</a:t>
            </a:r>
            <a:endParaRPr sz="1200"/>
          </a:p>
          <a:p>
            <a:pPr marL="342900" indent="-342900">
              <a:buFont typeface="Arial" panose="020B0604020202020204"/>
              <a:buAutoNum type="arabicPeriod"/>
              <a:defRPr/>
            </a:pPr>
            <a:r>
              <a:rPr lang="zh-CN" altLang="en-US" sz="1400">
                <a:ea typeface="宋体" charset="0"/>
              </a:rPr>
              <a:t>光路选型：</a:t>
            </a:r>
            <a:r>
              <a:rPr lang="en-US" altLang="zh-CN" sz="1400">
                <a:ea typeface="宋体" charset="0"/>
              </a:rPr>
              <a:t>NPR</a:t>
            </a:r>
            <a:endParaRPr lang="en-US" altLang="zh-CN" sz="1400">
              <a:ea typeface="宋体" charset="0"/>
            </a:endParaRPr>
          </a:p>
          <a:p>
            <a:pPr lvl="1">
              <a:defRPr/>
            </a:pPr>
            <a:r>
              <a:rPr lang="zh-CN" altLang="en-US" sz="1200">
                <a:ea typeface="宋体" charset="0"/>
              </a:rPr>
              <a:t>光路简单，便于调试，师兄有经验（快速验证）</a:t>
            </a:r>
            <a:endParaRPr lang="zh-CN" altLang="en-US" sz="1200">
              <a:ea typeface="宋体" charset="0"/>
            </a:endParaRPr>
          </a:p>
          <a:p>
            <a:pPr marL="342900" indent="-342900">
              <a:buFont typeface="Arial" panose="020B0604020202020204"/>
              <a:buAutoNum type="arabicPeriod"/>
              <a:defRPr/>
            </a:pPr>
            <a:r>
              <a:rPr lang="zh-CN" altLang="en-US" sz="1400">
                <a:ea typeface="宋体" charset="0"/>
                <a:sym typeface="+mn-ea"/>
              </a:rPr>
              <a:t>算法选型</a:t>
            </a:r>
            <a:r>
              <a:rPr sz="1400">
                <a:sym typeface="+mn-ea"/>
              </a:rPr>
              <a:t>：</a:t>
            </a:r>
            <a:r>
              <a:rPr lang="zh-CN" sz="1400">
                <a:ea typeface="宋体" charset="0"/>
                <a:sym typeface="+mn-ea"/>
              </a:rPr>
              <a:t>广度优先搜索（</a:t>
            </a:r>
            <a:r>
              <a:rPr lang="en-US" altLang="zh-CN" sz="1400">
                <a:ea typeface="宋体" charset="0"/>
                <a:sym typeface="+mn-ea"/>
              </a:rPr>
              <a:t>BFS</a:t>
            </a:r>
            <a:r>
              <a:rPr lang="zh-CN" sz="1400">
                <a:ea typeface="宋体" charset="0"/>
                <a:sym typeface="+mn-ea"/>
              </a:rPr>
              <a:t>）</a:t>
            </a:r>
            <a:endParaRPr lang="zh-CN" sz="1400">
              <a:ea typeface="宋体" charset="0"/>
              <a:sym typeface="+mn-ea"/>
            </a:endParaRPr>
          </a:p>
          <a:p>
            <a:pPr lvl="1">
              <a:defRPr/>
            </a:pPr>
            <a:r>
              <a:rPr lang="zh-CN" sz="1200">
                <a:ea typeface="宋体" charset="0"/>
                <a:sym typeface="+mn-ea"/>
              </a:rPr>
              <a:t>通用的无信息搜索算法（实现简单迅速）</a:t>
            </a:r>
            <a:endParaRPr lang="en-US" altLang="zh-CN" sz="690">
              <a:latin typeface="+mj-lt"/>
              <a:ea typeface="宋体" charset="0"/>
              <a:cs typeface="+mj-ea"/>
              <a:sym typeface="+mn-ea"/>
            </a:endParaRPr>
          </a:p>
          <a:p>
            <a:pPr lvl="1" algn="l">
              <a:buClrTx/>
              <a:buSzTx/>
              <a:defRPr/>
            </a:pPr>
            <a:r>
              <a:rPr lang="zh-CN" sz="1200">
                <a:ea typeface="宋体" charset="0"/>
                <a:sym typeface="+mn-ea"/>
              </a:rPr>
              <a:t>完备性（确保能搜完所有的参数空间，不会遗漏）</a:t>
            </a:r>
            <a:endParaRPr lang="zh-CN" sz="1200">
              <a:ea typeface="宋体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规划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ea typeface="宋体" charset="0"/>
              </a:rPr>
              <a:t>方案探索与学习</a:t>
            </a:r>
            <a:r>
              <a:rPr lang="en-US" altLang="zh-CN">
                <a:ea typeface="宋体" charset="0"/>
              </a:rPr>
              <a:t> 	</a:t>
            </a:r>
            <a:r>
              <a:rPr lang="zh-CN" altLang="en-US">
                <a:ea typeface="宋体" charset="0"/>
              </a:rPr>
              <a:t>《《当前</a:t>
            </a:r>
            <a:endParaRPr lang="zh-CN" altLang="en-US">
              <a:ea typeface="宋体" charset="0"/>
            </a:endParaRPr>
          </a:p>
          <a:p>
            <a:endParaRPr lang="zh-CN" altLang="en-US">
              <a:ea typeface="宋体" charset="0"/>
            </a:endParaRPr>
          </a:p>
          <a:p>
            <a:r>
              <a:rPr lang="zh-CN" altLang="en-US">
                <a:ea typeface="宋体" charset="0"/>
              </a:rPr>
              <a:t>算法仿真</a:t>
            </a:r>
            <a:endParaRPr lang="zh-CN" altLang="en-US">
              <a:ea typeface="宋体" charset="0"/>
            </a:endParaRPr>
          </a:p>
          <a:p>
            <a:endParaRPr lang="zh-CN" altLang="en-US">
              <a:ea typeface="宋体" charset="0"/>
            </a:endParaRPr>
          </a:p>
          <a:p>
            <a:r>
              <a:rPr lang="zh-CN" altLang="en-US">
                <a:ea typeface="宋体" charset="0"/>
              </a:rPr>
              <a:t>光路搭建与算法调试</a:t>
            </a:r>
            <a:endParaRPr lang="zh-CN" altLang="en-US">
              <a:ea typeface="宋体" charset="0"/>
            </a:endParaRPr>
          </a:p>
          <a:p>
            <a:endParaRPr lang="zh-CN" altLang="en-US">
              <a:ea typeface="宋体" charset="0"/>
            </a:endParaRPr>
          </a:p>
          <a:p>
            <a:r>
              <a:rPr lang="zh-CN" altLang="en-US">
                <a:ea typeface="宋体" charset="0"/>
              </a:rPr>
              <a:t>工程优化</a:t>
            </a:r>
            <a:endParaRPr lang="zh-CN" altLang="en-US">
              <a:ea typeface="宋体" charset="0"/>
            </a:endParaRPr>
          </a:p>
          <a:p>
            <a:endParaRPr lang="zh-CN" altLang="en-US">
              <a:ea typeface="宋体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5780" y="457200"/>
            <a:ext cx="3931920" cy="861695"/>
          </a:xfrm>
        </p:spPr>
        <p:txBody>
          <a:bodyPr/>
          <a:p>
            <a:r>
              <a:rPr lang="zh-CN" altLang="en-US"/>
              <a:t>现状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/>
          </p:nvPr>
        </p:nvSpPr>
        <p:spPr>
          <a:xfrm>
            <a:off x="525780" y="1349375"/>
            <a:ext cx="3931920" cy="5035550"/>
          </a:xfrm>
        </p:spPr>
        <p:txBody>
          <a:bodyPr/>
          <a:p>
            <a:pPr/>
            <a:r>
              <a:rPr lang="zh-CN" altLang="en-US">
                <a:ea typeface="宋体" charset="0"/>
              </a:rPr>
              <a:t>采用多个单色光波的电场方程叠加模拟产生脉冲</a:t>
            </a:r>
            <a:endParaRPr lang="zh-CN" altLang="en-US">
              <a:ea typeface="宋体" charset="0"/>
            </a:endParaRPr>
          </a:p>
          <a:p>
            <a:pPr/>
            <a:r>
              <a:rPr lang="zh-CN" altLang="en-US">
                <a:ea typeface="宋体" charset="0"/>
              </a:rPr>
              <a:t>采用</a:t>
            </a:r>
            <a:r>
              <a:rPr lang="en-US" altLang="zh-CN">
                <a:ea typeface="宋体" charset="0"/>
              </a:rPr>
              <a:t>20</a:t>
            </a:r>
            <a:r>
              <a:rPr lang="zh-CN" altLang="en-US">
                <a:ea typeface="宋体" charset="0"/>
              </a:rPr>
              <a:t>种不同频率的光波进行模拟</a:t>
            </a:r>
            <a:endParaRPr lang="zh-CN" altLang="en-US">
              <a:ea typeface="宋体" charset="0"/>
            </a:endParaRPr>
          </a:p>
          <a:p>
            <a:pPr/>
            <a:r>
              <a:rPr lang="en-US" altLang="zh-CN">
                <a:ea typeface="宋体" charset="0"/>
              </a:rPr>
              <a:t>1-6</a:t>
            </a:r>
            <a:r>
              <a:rPr lang="zh-CN" altLang="en-US">
                <a:ea typeface="宋体" charset="0"/>
              </a:rPr>
              <a:t>分别为：</a:t>
            </a:r>
            <a:endParaRPr lang="zh-CN" altLang="en-US">
              <a:ea typeface="宋体" charset="0"/>
            </a:endParaRPr>
          </a:p>
          <a:p>
            <a:pPr marL="342900" indent="-342900">
              <a:buAutoNum type="arabicPeriod"/>
            </a:pPr>
            <a:r>
              <a:rPr lang="zh-CN" altLang="en-US">
                <a:ea typeface="宋体" charset="0"/>
              </a:rPr>
              <a:t>初始相位随机，相对相位随时间随机变化，</a:t>
            </a:r>
            <a:r>
              <a:rPr lang="zh-CN" altLang="en-US">
                <a:ea typeface="宋体" charset="0"/>
                <a:sym typeface="+mn-ea"/>
              </a:rPr>
              <a:t>各光波频率为等差数列</a:t>
            </a:r>
            <a:endParaRPr lang="zh-CN" altLang="en-US">
              <a:ea typeface="宋体" charset="0"/>
            </a:endParaRPr>
          </a:p>
          <a:p>
            <a:pPr marL="342900" indent="-342900">
              <a:buAutoNum type="arabicPeriod"/>
            </a:pPr>
            <a:r>
              <a:rPr lang="zh-CN" altLang="en-US">
                <a:ea typeface="宋体" charset="0"/>
              </a:rPr>
              <a:t>初始相位均为</a:t>
            </a:r>
            <a:r>
              <a:rPr lang="en-US" altLang="zh-CN">
                <a:ea typeface="宋体" charset="0"/>
              </a:rPr>
              <a:t>0</a:t>
            </a:r>
            <a:r>
              <a:rPr lang="zh-CN" altLang="en-US">
                <a:ea typeface="宋体" charset="0"/>
              </a:rPr>
              <a:t>，各光波频率为等差数列</a:t>
            </a:r>
            <a:endParaRPr lang="zh-CN" altLang="en-US">
              <a:ea typeface="宋体" charset="0"/>
            </a:endParaRPr>
          </a:p>
          <a:p>
            <a:pPr marL="342900" indent="-342900">
              <a:buAutoNum type="arabicPeriod"/>
            </a:pPr>
            <a:r>
              <a:rPr lang="zh-CN" altLang="en-US">
                <a:ea typeface="宋体" charset="0"/>
              </a:rPr>
              <a:t>初始相位与频率成线性关系，</a:t>
            </a:r>
            <a:r>
              <a:rPr lang="zh-CN" altLang="en-US">
                <a:ea typeface="宋体" charset="0"/>
                <a:sym typeface="+mn-ea"/>
              </a:rPr>
              <a:t>各光波频率为等差数列</a:t>
            </a:r>
            <a:endParaRPr lang="zh-CN" altLang="en-US">
              <a:ea typeface="宋体" charset="0"/>
              <a:sym typeface="+mn-ea"/>
            </a:endParaRPr>
          </a:p>
          <a:p>
            <a:pPr marL="342900" indent="-342900">
              <a:buAutoNum type="arabicPeriod"/>
            </a:pPr>
            <a:r>
              <a:rPr lang="zh-CN" altLang="en-US">
                <a:ea typeface="宋体" charset="0"/>
                <a:sym typeface="+mn-ea"/>
              </a:rPr>
              <a:t>初始相位随机，相对相位恒定，</a:t>
            </a:r>
            <a:r>
              <a:rPr lang="zh-CN" altLang="en-US">
                <a:ea typeface="宋体" charset="0"/>
                <a:sym typeface="+mn-ea"/>
              </a:rPr>
              <a:t>各光波频率为等差数列</a:t>
            </a:r>
            <a:endParaRPr lang="zh-CN" altLang="en-US">
              <a:ea typeface="宋体" charset="0"/>
              <a:sym typeface="+mn-ea"/>
            </a:endParaRPr>
          </a:p>
          <a:p>
            <a:pPr marL="342900" indent="-342900">
              <a:buAutoNum type="arabicPeriod"/>
            </a:pPr>
            <a:r>
              <a:rPr lang="zh-CN" altLang="en-US">
                <a:ea typeface="宋体" charset="0"/>
                <a:sym typeface="+mn-ea"/>
              </a:rPr>
              <a:t>初始相位与频率有二次的关系</a:t>
            </a:r>
            <a:r>
              <a:rPr lang="zh-CN" altLang="en-US">
                <a:ea typeface="宋体" charset="0"/>
                <a:sym typeface="+mn-ea"/>
              </a:rPr>
              <a:t>，各光波频率为等差数列</a:t>
            </a:r>
            <a:endParaRPr lang="zh-CN" altLang="en-US">
              <a:ea typeface="宋体" charset="0"/>
              <a:sym typeface="+mn-ea"/>
            </a:endParaRPr>
          </a:p>
          <a:p>
            <a:pPr marL="342900" indent="-342900">
              <a:buAutoNum type="arabicPeriod"/>
            </a:pPr>
            <a:r>
              <a:rPr lang="zh-CN" altLang="en-US">
                <a:ea typeface="宋体" charset="0"/>
                <a:sym typeface="+mn-ea"/>
              </a:rPr>
              <a:t>初始相位均为</a:t>
            </a:r>
            <a:r>
              <a:rPr lang="en-US" altLang="zh-CN">
                <a:ea typeface="宋体" charset="0"/>
                <a:sym typeface="+mn-ea"/>
              </a:rPr>
              <a:t>0,</a:t>
            </a:r>
            <a:r>
              <a:rPr lang="zh-CN" altLang="en-US">
                <a:ea typeface="宋体" charset="0"/>
                <a:sym typeface="+mn-ea"/>
              </a:rPr>
              <a:t>各光波的频率随机</a:t>
            </a:r>
            <a:endParaRPr lang="zh-CN" altLang="en-US">
              <a:ea typeface="宋体" charset="0"/>
              <a:sym typeface="+mn-ea"/>
            </a:endParaRPr>
          </a:p>
          <a:p>
            <a:pPr marL="342900" indent="-342900">
              <a:buAutoNum type="arabicPeriod"/>
            </a:pPr>
            <a:endParaRPr lang="zh-CN" altLang="en-US">
              <a:ea typeface="宋体" charset="0"/>
              <a:sym typeface="+mn-ea"/>
            </a:endParaRPr>
          </a:p>
          <a:p>
            <a:pPr marL="342900" indent="-342900">
              <a:buAutoNum type="arabicPeriod"/>
            </a:pPr>
            <a:endParaRPr lang="zh-CN" altLang="en-US">
              <a:ea typeface="宋体" charset="0"/>
              <a:sym typeface="+mn-ea"/>
            </a:endParaRPr>
          </a:p>
          <a:p>
            <a:pPr marL="342900" indent="-342900">
              <a:buAutoNum type="arabicPeriod"/>
            </a:pPr>
            <a:endParaRPr lang="zh-CN" altLang="en-US">
              <a:ea typeface="宋体" charset="0"/>
            </a:endParaRPr>
          </a:p>
        </p:txBody>
      </p:sp>
      <p:pic>
        <p:nvPicPr>
          <p:cNvPr id="10" name="图片占位符 9" descr="截图 2026-09-20 00-39-36"/>
          <p:cNvPicPr>
            <a:picLocks noChangeAspect="1"/>
          </p:cNvPicPr>
          <p:nvPr>
            <p:ph type="pic" idx="1"/>
          </p:nvPr>
        </p:nvPicPr>
        <p:blipFill>
          <a:blip r:embed="rId1"/>
          <a:stretch>
            <a:fillRect/>
          </a:stretch>
        </p:blipFill>
        <p:spPr>
          <a:xfrm>
            <a:off x="4509770" y="1646555"/>
            <a:ext cx="7519670" cy="3347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5780" y="457200"/>
            <a:ext cx="3108325" cy="438785"/>
          </a:xfrm>
        </p:spPr>
        <p:txBody>
          <a:bodyPr>
            <a:normAutofit fontScale="90000"/>
          </a:bodyPr>
          <a:p>
            <a:r>
              <a:rPr lang="zh-CN" altLang="en-US"/>
              <a:t>现状</a:t>
            </a:r>
            <a:endParaRPr lang="zh-CN" altLang="en-US"/>
          </a:p>
        </p:txBody>
      </p:sp>
      <p:pic>
        <p:nvPicPr>
          <p:cNvPr id="18" name="图片 17" descr="5thz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520" y="1349375"/>
            <a:ext cx="5276850" cy="2145030"/>
          </a:xfrm>
          <a:prstGeom prst="rect">
            <a:avLst/>
          </a:prstGeom>
        </p:spPr>
      </p:pic>
      <p:pic>
        <p:nvPicPr>
          <p:cNvPr id="19" name="图片 18" descr="15thz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370" y="1387475"/>
            <a:ext cx="5279390" cy="2146300"/>
          </a:xfrm>
          <a:prstGeom prst="rect">
            <a:avLst/>
          </a:prstGeom>
        </p:spPr>
      </p:pic>
      <p:pic>
        <p:nvPicPr>
          <p:cNvPr id="21" name="图片 20" descr="50thz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910" y="3138170"/>
            <a:ext cx="5471795" cy="2223770"/>
          </a:xfrm>
          <a:prstGeom prst="rect">
            <a:avLst/>
          </a:prstGeom>
        </p:spPr>
      </p:pic>
      <p:pic>
        <p:nvPicPr>
          <p:cNvPr id="22" name="图片 21" descr="100thz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7705" y="3138170"/>
            <a:ext cx="5180965" cy="2105660"/>
          </a:xfrm>
          <a:prstGeom prst="rect">
            <a:avLst/>
          </a:prstGeom>
        </p:spPr>
      </p:pic>
      <p:pic>
        <p:nvPicPr>
          <p:cNvPr id="23" name="图片 22" descr="500thz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910" y="4970145"/>
            <a:ext cx="5601970" cy="2277110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480695" y="857885"/>
            <a:ext cx="102997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ea typeface="宋体" charset="0"/>
              </a:rPr>
              <a:t>采用载波</a:t>
            </a:r>
            <a:r>
              <a:rPr lang="en-US" altLang="zh-CN">
                <a:ea typeface="宋体" charset="0"/>
              </a:rPr>
              <a:t>x</a:t>
            </a:r>
            <a:r>
              <a:rPr lang="zh-CN" altLang="en-US">
                <a:ea typeface="宋体" charset="0"/>
              </a:rPr>
              <a:t>包络表示高斯脉冲，如图分别为</a:t>
            </a:r>
            <a:r>
              <a:rPr lang="en-US" altLang="zh-CN">
                <a:ea typeface="宋体" charset="0"/>
              </a:rPr>
              <a:t>5</a:t>
            </a:r>
            <a:r>
              <a:rPr lang="zh-CN" altLang="en-US">
                <a:ea typeface="宋体" charset="0"/>
              </a:rPr>
              <a:t>、</a:t>
            </a:r>
            <a:r>
              <a:rPr lang="en-US" altLang="zh-CN">
                <a:ea typeface="宋体" charset="0"/>
              </a:rPr>
              <a:t>15</a:t>
            </a:r>
            <a:r>
              <a:rPr lang="zh-CN" altLang="en-US">
                <a:ea typeface="宋体" charset="0"/>
              </a:rPr>
              <a:t>、</a:t>
            </a:r>
            <a:r>
              <a:rPr lang="en-US" altLang="zh-CN">
                <a:ea typeface="宋体" charset="0"/>
              </a:rPr>
              <a:t>50</a:t>
            </a:r>
            <a:r>
              <a:rPr lang="zh-CN" altLang="en-US">
                <a:ea typeface="宋体" charset="0"/>
              </a:rPr>
              <a:t>、</a:t>
            </a:r>
            <a:r>
              <a:rPr lang="en-US" altLang="zh-CN">
                <a:ea typeface="宋体" charset="0"/>
              </a:rPr>
              <a:t>100</a:t>
            </a:r>
            <a:r>
              <a:rPr lang="zh-CN" altLang="en-US">
                <a:ea typeface="宋体" charset="0"/>
              </a:rPr>
              <a:t>、</a:t>
            </a:r>
            <a:r>
              <a:rPr lang="en-US" altLang="zh-CN">
                <a:ea typeface="宋体" charset="0"/>
              </a:rPr>
              <a:t>500THz</a:t>
            </a:r>
            <a:r>
              <a:rPr lang="zh-CN" altLang="en-US">
                <a:ea typeface="宋体" charset="0"/>
              </a:rPr>
              <a:t>的载波与同一个的包络相乘</a:t>
            </a:r>
            <a:endParaRPr lang="en-US" altLang="zh-CN">
              <a:ea typeface="宋体" charset="0"/>
            </a:endParaRPr>
          </a:p>
          <a:p>
            <a:endParaRPr lang="en-US" altLang="zh-CN">
              <a:ea typeface="宋体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困难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项目所需的必要的知识？</a:t>
            </a:r>
            <a:endParaRPr lang="zh-CN" altLang="en-US"/>
          </a:p>
          <a:p>
            <a:r>
              <a:rPr lang="zh-CN" altLang="en-US"/>
              <a:t>算法上如何区分无规律的脉冲和锁模后稳定的脉冲？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等线 Light"/>
        <a:ea typeface="Arial"/>
        <a:cs typeface="Arial"/>
      </a:majorFont>
      <a:minorFont>
        <a:latin typeface="等线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489</Words>
  <Application>WPS 演示</Application>
  <PresentationFormat>On-screen Show (4:3)</PresentationFormat>
  <Paragraphs>52</Paragraphs>
  <Slides>7</Slides>
  <Notes>3</Notes>
  <HiddenSlides>0</HiddenSlides>
  <MMClips>2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2" baseType="lpstr">
      <vt:lpstr>Arial</vt:lpstr>
      <vt:lpstr>宋体</vt:lpstr>
      <vt:lpstr>Wingdings</vt:lpstr>
      <vt:lpstr>Arial</vt:lpstr>
      <vt:lpstr>宋体</vt:lpstr>
      <vt:lpstr>Noto Serif CJK SC</vt:lpstr>
      <vt:lpstr>等线 Light</vt:lpstr>
      <vt:lpstr>Comfortaa Light</vt:lpstr>
      <vt:lpstr>微软雅黑</vt:lpstr>
      <vt:lpstr>Arial Unicode MS</vt:lpstr>
      <vt:lpstr>等线</vt:lpstr>
      <vt:lpstr>Calibri</vt:lpstr>
      <vt:lpstr>Trebuchet MS</vt:lpstr>
      <vt:lpstr>OpenSymbol</vt:lpstr>
      <vt:lpstr>Office Theme</vt:lpstr>
      <vt:lpstr>基于反馈的锁模参数自调整系统</vt:lpstr>
      <vt:lpstr>为采集的数据添加分析系统</vt:lpstr>
      <vt:lpstr>方案确定与考量</vt:lpstr>
      <vt:lpstr>PowerPoint 演示文稿</vt:lpstr>
      <vt:lpstr>PowerPoint 演示文稿</vt:lpstr>
      <vt:lpstr>现状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ray</cp:lastModifiedBy>
  <cp:revision>44</cp:revision>
  <dcterms:created xsi:type="dcterms:W3CDTF">2026-09-19T17:05:32Z</dcterms:created>
  <dcterms:modified xsi:type="dcterms:W3CDTF">2026-09-19T17:05:32Z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1D5D38A835519EDF25AFAE6AE7FD00E8_42</vt:lpwstr>
  </property>
  <property fmtid="{D5CDD505-2E9C-101B-9397-08002B2CF9AE}" pid="3" name="KSOProductBuildVer">
    <vt:lpwstr>2052-12.1.2.28080</vt:lpwstr>
  </property>
</Properties>
</file>